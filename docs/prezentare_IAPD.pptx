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Poppi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gUOXf9MdyXDNO7mAUX0zz5emy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5850a1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b635850a1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635850a1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b635850a11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635850a1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635850a11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635850a1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b635850a11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635850a1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b635850a11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635850a1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b635850a11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21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834" l="-14095" r="-14095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9FF">
                <a:alpha val="20392"/>
              </a:srgbClr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 txBox="1"/>
          <p:nvPr/>
        </p:nvSpPr>
        <p:spPr>
          <a:xfrm>
            <a:off x="1028683" y="3941452"/>
            <a:ext cx="15922842" cy="2617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5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6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Predicția prețului smartphone-urilor pe platforma eMAG</a:t>
            </a:r>
            <a:r>
              <a:rPr b="1" i="0" lang="fr-FR" sz="6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6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488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488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9" name="Google Shape;89;p1"/>
          <p:cNvCxnSpPr/>
          <p:nvPr/>
        </p:nvCxnSpPr>
        <p:spPr>
          <a:xfrm>
            <a:off x="1028683" y="8732575"/>
            <a:ext cx="16230600" cy="1905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7696927" y="9065396"/>
            <a:ext cx="2389477" cy="352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05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Proiect: IAPD</a:t>
            </a:r>
            <a:endParaRPr b="1" i="0" sz="2051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248419" y="427959"/>
            <a:ext cx="8008865" cy="195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75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Universitatea Politehnica din București</a:t>
            </a:r>
            <a:endParaRPr/>
          </a:p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75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Facultatea Automatica și Calculatoare</a:t>
            </a:r>
            <a:endParaRPr/>
          </a:p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75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 in Stiința Datelor</a:t>
            </a:r>
            <a:endParaRPr/>
          </a:p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51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01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060873" y="9046346"/>
            <a:ext cx="4747340" cy="8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 Mama</a:t>
            </a:r>
            <a:endParaRPr b="0" i="0" sz="2472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Alberto Radu</a:t>
            </a:r>
            <a:endParaRPr b="0" i="0" sz="2472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2544133" y="9046346"/>
            <a:ext cx="4747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Prof: Mihai Dasc</a:t>
            </a:r>
            <a:r>
              <a:rPr lang="fr-FR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ălu</a:t>
            </a:r>
            <a:endParaRPr b="0" i="0" sz="2472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528202" y="9061735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1025" y="0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640"/>
            </a:gs>
            <a:gs pos="100000">
              <a:srgbClr val="020070"/>
            </a:gs>
          </a:gsLst>
          <a:lin ang="0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15513352" y="427371"/>
            <a:ext cx="1919429" cy="783524"/>
            <a:chOff x="0" y="-57150"/>
            <a:chExt cx="505529" cy="20636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/>
          <p:cNvSpPr/>
          <p:nvPr/>
        </p:nvSpPr>
        <p:spPr>
          <a:xfrm rot="8831280">
            <a:off x="-2149749" y="2740944"/>
            <a:ext cx="4001809" cy="4001809"/>
          </a:xfrm>
          <a:custGeom>
            <a:rect b="b" l="l" r="r" t="t"/>
            <a:pathLst>
              <a:path extrusionOk="0"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5" name="Google Shape;105;p2"/>
          <p:cNvCxnSpPr/>
          <p:nvPr/>
        </p:nvCxnSpPr>
        <p:spPr>
          <a:xfrm>
            <a:off x="1028683" y="9272587"/>
            <a:ext cx="16230600" cy="1905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2"/>
          <p:cNvSpPr/>
          <p:nvPr/>
        </p:nvSpPr>
        <p:spPr>
          <a:xfrm rot="-1886788">
            <a:off x="16349986" y="3775189"/>
            <a:ext cx="4464076" cy="4464076"/>
          </a:xfrm>
          <a:custGeom>
            <a:rect b="b" l="l" r="r" t="t"/>
            <a:pathLst>
              <a:path extrusionOk="0"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6888720" y="710148"/>
            <a:ext cx="5227079" cy="783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4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 rezultatelor</a:t>
            </a:r>
            <a:endParaRPr b="1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5762422" y="712045"/>
            <a:ext cx="1421291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02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924625" y="5592901"/>
            <a:ext cx="16438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Distribuția prețurilor telefoanelor este puternic asimetrică pozitiv, cu majoritatea valorilor concentrate sub 3000 lei și o coadă lungă spre prețuri foarte mari (peste 10 000 lei), ceea ce indică existența unor modele premium rare.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Matricea de corelație arată că prețul este moderat corelat cu memoria internă (0.53), RAM-ul (0.52) și numărul de megapixeli (0.66)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Corelația dintre preț și dimensiunea ecranului este mai slabă (0.30).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observă o corelație puternică între RAM și sto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rage</a:t>
            </a: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(0.65).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Corelatia </a:t>
            </a: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preț–RAM evidențiază o tendință ascendentă, telefoanele cu mai mult RAM având, în general, prețuri mai mari.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1318038"/>
            <a:ext cx="5248666" cy="416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34437" y="1318038"/>
            <a:ext cx="5797307" cy="4078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0070"/>
            </a:gs>
            <a:gs pos="100000">
              <a:srgbClr val="000640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3"/>
          <p:cNvGrpSpPr/>
          <p:nvPr/>
        </p:nvGrpSpPr>
        <p:grpSpPr>
          <a:xfrm>
            <a:off x="15513352" y="450888"/>
            <a:ext cx="1919429" cy="783524"/>
            <a:chOff x="0" y="-57150"/>
            <a:chExt cx="505529" cy="206360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9" name="Google Shape;119;p3"/>
          <p:cNvCxnSpPr/>
          <p:nvPr/>
        </p:nvCxnSpPr>
        <p:spPr>
          <a:xfrm>
            <a:off x="1028683" y="9272587"/>
            <a:ext cx="16230600" cy="1905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3"/>
          <p:cNvSpPr/>
          <p:nvPr/>
        </p:nvSpPr>
        <p:spPr>
          <a:xfrm>
            <a:off x="-3306817" y="1295381"/>
            <a:ext cx="4335517" cy="4114800"/>
          </a:xfrm>
          <a:custGeom>
            <a:rect b="b" l="l" r="r" t="t"/>
            <a:pathLst>
              <a:path extrusionOk="0"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 txBox="1"/>
          <p:nvPr/>
        </p:nvSpPr>
        <p:spPr>
          <a:xfrm>
            <a:off x="3887425" y="372850"/>
            <a:ext cx="106170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1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4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 relațiilor dintre preț și caracteristici</a:t>
            </a:r>
            <a:endParaRPr b="0" i="0" sz="40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03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633950" y="6008500"/>
            <a:ext cx="17196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Graficul preț–RAM indică o relație pozitivă clară, telefoanele cu mai mult RAM având, în general, prețuri mai ridicate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În cazul preț–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se observă o tendință ascendentă moderată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Graficele evidențiază prezența unor valori extreme, corespunzătoare modelelor premium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Relația dintre preț și rezoluția ecranului (megapixeli) este vizibil pozitivă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Pentru valori mici ale specificațiilor, prețurile sunt concentrate într-un interval redus.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În concluzie, prețul crește odată cu performanța hardware, însă variația ridicată arată că brandul și alte specificații joacă un rol important.</a:t>
            </a:r>
            <a:endParaRPr i="0" sz="2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938" y="1305872"/>
            <a:ext cx="5385827" cy="416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8209" y="1337422"/>
            <a:ext cx="5431547" cy="416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68200" y="1295381"/>
            <a:ext cx="5385827" cy="4160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640"/>
            </a:gs>
            <a:gs pos="100000">
              <a:srgbClr val="020070"/>
            </a:gs>
          </a:gsLst>
          <a:lin ang="0" scaled="0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4"/>
          <p:cNvGrpSpPr/>
          <p:nvPr/>
        </p:nvGrpSpPr>
        <p:grpSpPr>
          <a:xfrm>
            <a:off x="15513352" y="450888"/>
            <a:ext cx="1919429" cy="783524"/>
            <a:chOff x="0" y="-57150"/>
            <a:chExt cx="505529" cy="206360"/>
          </a:xfrm>
        </p:grpSpPr>
        <p:sp>
          <p:nvSpPr>
            <p:cNvPr id="132" name="Google Shape;132;p4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4"/>
          <p:cNvSpPr txBox="1"/>
          <p:nvPr/>
        </p:nvSpPr>
        <p:spPr>
          <a:xfrm>
            <a:off x="3612375" y="733675"/>
            <a:ext cx="111123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4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 prețului mediu per brand</a:t>
            </a:r>
            <a:endParaRPr b="0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  <a:endParaRPr/>
          </a:p>
        </p:txBody>
      </p:sp>
      <p:cxnSp>
        <p:nvCxnSpPr>
          <p:cNvPr id="136" name="Google Shape;136;p4"/>
          <p:cNvCxnSpPr/>
          <p:nvPr/>
        </p:nvCxnSpPr>
        <p:spPr>
          <a:xfrm>
            <a:off x="1028683" y="9272587"/>
            <a:ext cx="16230600" cy="1905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4"/>
          <p:cNvSpPr txBox="1"/>
          <p:nvPr/>
        </p:nvSpPr>
        <p:spPr>
          <a:xfrm>
            <a:off x="8373400" y="2324100"/>
            <a:ext cx="86610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iferențe semnificative între prețurile medii ale telefoanelor în funcție de brand.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Brandurile din zona inferioară a graficului oferă prețuri medii reduse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În zona mediană se află branduri cu prețuri moderate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Brandurile din partea superioară prezintă cele mai mari prețuri medii.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0" lang="fr-FR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egmentare clară a pieței</a:t>
            </a:r>
            <a:r>
              <a:rPr lang="fr-FR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825" y="2145900"/>
            <a:ext cx="7458175" cy="65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4" name="Google Shape;144;p5"/>
          <p:cNvGrpSpPr/>
          <p:nvPr/>
        </p:nvGrpSpPr>
        <p:grpSpPr>
          <a:xfrm>
            <a:off x="-36786" y="-144661"/>
            <a:ext cx="18288000" cy="10431661"/>
            <a:chOff x="0" y="-38100"/>
            <a:chExt cx="4816593" cy="2747433"/>
          </a:xfrm>
        </p:grpSpPr>
        <p:sp>
          <p:nvSpPr>
            <p:cNvPr id="145" name="Google Shape;145;p5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20070">
                    <a:alpha val="66666"/>
                  </a:srgbClr>
                </a:gs>
                <a:gs pos="100000">
                  <a:srgbClr val="000640">
                    <a:alpha val="6666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146" name="Google Shape;146;p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5"/>
          <p:cNvGrpSpPr/>
          <p:nvPr/>
        </p:nvGrpSpPr>
        <p:grpSpPr>
          <a:xfrm>
            <a:off x="15513352" y="450888"/>
            <a:ext cx="1919429" cy="783524"/>
            <a:chOff x="0" y="-57150"/>
            <a:chExt cx="505529" cy="206360"/>
          </a:xfrm>
        </p:grpSpPr>
        <p:sp>
          <p:nvSpPr>
            <p:cNvPr id="148" name="Google Shape;148;p5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5"/>
          <p:cNvSpPr txBox="1"/>
          <p:nvPr/>
        </p:nvSpPr>
        <p:spPr>
          <a:xfrm>
            <a:off x="2237100" y="450875"/>
            <a:ext cx="123225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4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10 telefoane cu cel mai bun raport calitate/preț</a:t>
            </a:r>
            <a:endParaRPr/>
          </a:p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5762422" y="735562"/>
            <a:ext cx="14214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05</a:t>
            </a:r>
            <a:endParaRPr/>
          </a:p>
        </p:txBody>
      </p:sp>
      <p:cxnSp>
        <p:nvCxnSpPr>
          <p:cNvPr id="152" name="Google Shape;152;p5"/>
          <p:cNvCxnSpPr/>
          <p:nvPr/>
        </p:nvCxnSpPr>
        <p:spPr>
          <a:xfrm>
            <a:off x="1028683" y="9272587"/>
            <a:ext cx="16230600" cy="1905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300" y="1411450"/>
            <a:ext cx="7592924" cy="6049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68900" y="1411450"/>
            <a:ext cx="8428725" cy="60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604200" y="7452849"/>
            <a:ext cx="7887900" cy="18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Graficul evidențiază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clustere distincte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telefoane obținute cu algoritmul K-Means.</a:t>
            </a:r>
            <a:endParaRPr sz="2400"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 flipH="1">
            <a:off x="9112475" y="7452850"/>
            <a:ext cx="89154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Graficul compară brandurile de telefoane în funcție de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raportul calitate/preț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635850a11_0_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2" name="Google Shape;162;g3b635850a11_0_3"/>
          <p:cNvGrpSpPr/>
          <p:nvPr/>
        </p:nvGrpSpPr>
        <p:grpSpPr>
          <a:xfrm>
            <a:off x="-36786" y="-144662"/>
            <a:ext cx="18288118" cy="10431728"/>
            <a:chOff x="0" y="-38100"/>
            <a:chExt cx="4816592" cy="2747433"/>
          </a:xfrm>
        </p:grpSpPr>
        <p:sp>
          <p:nvSpPr>
            <p:cNvPr id="163" name="Google Shape;163;g3b635850a11_0_3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20070">
                    <a:alpha val="66666"/>
                  </a:srgbClr>
                </a:gs>
                <a:gs pos="100000">
                  <a:srgbClr val="000640">
                    <a:alpha val="6666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164" name="Google Shape;164;g3b635850a11_0_3"/>
            <p:cNvSpPr txBox="1"/>
            <p:nvPr/>
          </p:nvSpPr>
          <p:spPr>
            <a:xfrm>
              <a:off x="0" y="-38100"/>
              <a:ext cx="48165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g3b635850a11_0_3"/>
          <p:cNvGrpSpPr/>
          <p:nvPr/>
        </p:nvGrpSpPr>
        <p:grpSpPr>
          <a:xfrm>
            <a:off x="15513352" y="450887"/>
            <a:ext cx="1919443" cy="783680"/>
            <a:chOff x="0" y="-57150"/>
            <a:chExt cx="505529" cy="206400"/>
          </a:xfrm>
        </p:grpSpPr>
        <p:sp>
          <p:nvSpPr>
            <p:cNvPr id="166" name="Google Shape;166;g3b635850a11_0_3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g3b635850a11_0_3"/>
            <p:cNvSpPr txBox="1"/>
            <p:nvPr/>
          </p:nvSpPr>
          <p:spPr>
            <a:xfrm>
              <a:off x="0" y="-57150"/>
              <a:ext cx="5055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g3b635850a11_0_3"/>
          <p:cNvSpPr txBox="1"/>
          <p:nvPr/>
        </p:nvSpPr>
        <p:spPr>
          <a:xfrm>
            <a:off x="2798500" y="287600"/>
            <a:ext cx="117804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Evaluare performanță model Random Forest</a:t>
            </a:r>
            <a:endParaRPr/>
          </a:p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g3b635850a11_0_3"/>
          <p:cNvSpPr txBox="1"/>
          <p:nvPr/>
        </p:nvSpPr>
        <p:spPr>
          <a:xfrm>
            <a:off x="15762422" y="735562"/>
            <a:ext cx="14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0</a:t>
            </a:r>
            <a:r>
              <a:rPr b="1" lang="fr-FR" sz="1999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b="1" sz="1999">
              <a:solidFill>
                <a:srgbClr val="020F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70" name="Google Shape;170;g3b635850a11_0_3"/>
          <p:cNvCxnSpPr/>
          <p:nvPr/>
        </p:nvCxnSpPr>
        <p:spPr>
          <a:xfrm>
            <a:off x="1028683" y="9272587"/>
            <a:ext cx="16230600" cy="1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1" name="Google Shape;171;g3b635850a11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1500" y="1234575"/>
            <a:ext cx="8954401" cy="429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b635850a11_0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0937" y="5957713"/>
            <a:ext cx="7712675" cy="28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635850a11_0_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8" name="Google Shape;178;g3b635850a11_0_23"/>
          <p:cNvGrpSpPr/>
          <p:nvPr/>
        </p:nvGrpSpPr>
        <p:grpSpPr>
          <a:xfrm>
            <a:off x="-36786" y="-144662"/>
            <a:ext cx="18288118" cy="10431728"/>
            <a:chOff x="0" y="-38100"/>
            <a:chExt cx="4816592" cy="2747433"/>
          </a:xfrm>
        </p:grpSpPr>
        <p:sp>
          <p:nvSpPr>
            <p:cNvPr id="179" name="Google Shape;179;g3b635850a11_0_23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20070">
                    <a:alpha val="66666"/>
                  </a:srgbClr>
                </a:gs>
                <a:gs pos="100000">
                  <a:srgbClr val="000640">
                    <a:alpha val="6666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180" name="Google Shape;180;g3b635850a11_0_23"/>
            <p:cNvSpPr txBox="1"/>
            <p:nvPr/>
          </p:nvSpPr>
          <p:spPr>
            <a:xfrm>
              <a:off x="0" y="-38100"/>
              <a:ext cx="48165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g3b635850a11_0_23"/>
          <p:cNvGrpSpPr/>
          <p:nvPr/>
        </p:nvGrpSpPr>
        <p:grpSpPr>
          <a:xfrm>
            <a:off x="15513352" y="450887"/>
            <a:ext cx="1919443" cy="783680"/>
            <a:chOff x="0" y="-57150"/>
            <a:chExt cx="505529" cy="206400"/>
          </a:xfrm>
        </p:grpSpPr>
        <p:sp>
          <p:nvSpPr>
            <p:cNvPr id="182" name="Google Shape;182;g3b635850a11_0_23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g3b635850a11_0_23"/>
            <p:cNvSpPr txBox="1"/>
            <p:nvPr/>
          </p:nvSpPr>
          <p:spPr>
            <a:xfrm>
              <a:off x="0" y="-57150"/>
              <a:ext cx="5055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g3b635850a11_0_23"/>
          <p:cNvSpPr txBox="1"/>
          <p:nvPr/>
        </p:nvSpPr>
        <p:spPr>
          <a:xfrm>
            <a:off x="2798500" y="287600"/>
            <a:ext cx="117804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Evaluare performanță model Random Forest</a:t>
            </a:r>
            <a:endParaRPr/>
          </a:p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g3b635850a11_0_23"/>
          <p:cNvSpPr txBox="1"/>
          <p:nvPr/>
        </p:nvSpPr>
        <p:spPr>
          <a:xfrm>
            <a:off x="15762422" y="735562"/>
            <a:ext cx="14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0</a:t>
            </a:r>
            <a:r>
              <a:rPr b="1" lang="fr-FR" sz="1999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cxnSp>
        <p:nvCxnSpPr>
          <p:cNvPr id="186" name="Google Shape;186;g3b635850a11_0_23"/>
          <p:cNvCxnSpPr/>
          <p:nvPr/>
        </p:nvCxnSpPr>
        <p:spPr>
          <a:xfrm>
            <a:off x="1028683" y="9272587"/>
            <a:ext cx="16230600" cy="1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7" name="Google Shape;187;g3b635850a11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950" y="1537200"/>
            <a:ext cx="7696500" cy="68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b635850a11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4300" y="1537200"/>
            <a:ext cx="9888775" cy="68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635850a11_0_4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4" name="Google Shape;194;g3b635850a11_0_40"/>
          <p:cNvGrpSpPr/>
          <p:nvPr/>
        </p:nvGrpSpPr>
        <p:grpSpPr>
          <a:xfrm>
            <a:off x="-36786" y="-144662"/>
            <a:ext cx="18288118" cy="10431728"/>
            <a:chOff x="0" y="-38100"/>
            <a:chExt cx="4816592" cy="2747433"/>
          </a:xfrm>
        </p:grpSpPr>
        <p:sp>
          <p:nvSpPr>
            <p:cNvPr id="195" name="Google Shape;195;g3b635850a11_0_40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20070">
                    <a:alpha val="66666"/>
                  </a:srgbClr>
                </a:gs>
                <a:gs pos="100000">
                  <a:srgbClr val="000640">
                    <a:alpha val="6666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196" name="Google Shape;196;g3b635850a11_0_40"/>
            <p:cNvSpPr txBox="1"/>
            <p:nvPr/>
          </p:nvSpPr>
          <p:spPr>
            <a:xfrm>
              <a:off x="0" y="-38100"/>
              <a:ext cx="48165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g3b635850a11_0_40"/>
          <p:cNvGrpSpPr/>
          <p:nvPr/>
        </p:nvGrpSpPr>
        <p:grpSpPr>
          <a:xfrm>
            <a:off x="15513352" y="450887"/>
            <a:ext cx="1919443" cy="783680"/>
            <a:chOff x="0" y="-57150"/>
            <a:chExt cx="505529" cy="206400"/>
          </a:xfrm>
        </p:grpSpPr>
        <p:sp>
          <p:nvSpPr>
            <p:cNvPr id="198" name="Google Shape;198;g3b635850a11_0_40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g3b635850a11_0_40"/>
            <p:cNvSpPr txBox="1"/>
            <p:nvPr/>
          </p:nvSpPr>
          <p:spPr>
            <a:xfrm>
              <a:off x="0" y="-57150"/>
              <a:ext cx="5055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g3b635850a11_0_40"/>
          <p:cNvSpPr txBox="1"/>
          <p:nvPr/>
        </p:nvSpPr>
        <p:spPr>
          <a:xfrm>
            <a:off x="2798500" y="287600"/>
            <a:ext cx="117804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Evaluare performanță model Gradient Boosting</a:t>
            </a:r>
            <a:endParaRPr/>
          </a:p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g3b635850a11_0_40"/>
          <p:cNvSpPr txBox="1"/>
          <p:nvPr/>
        </p:nvSpPr>
        <p:spPr>
          <a:xfrm>
            <a:off x="15762422" y="735562"/>
            <a:ext cx="14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0</a:t>
            </a:r>
            <a:r>
              <a:rPr b="1" lang="fr-FR" sz="1999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/>
          </a:p>
        </p:txBody>
      </p:sp>
      <p:cxnSp>
        <p:nvCxnSpPr>
          <p:cNvPr id="202" name="Google Shape;202;g3b635850a11_0_40"/>
          <p:cNvCxnSpPr/>
          <p:nvPr/>
        </p:nvCxnSpPr>
        <p:spPr>
          <a:xfrm>
            <a:off x="1028683" y="9272587"/>
            <a:ext cx="16230600" cy="1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3" name="Google Shape;203;g3b635850a11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84900"/>
            <a:ext cx="8447150" cy="53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b635850a11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2925" y="6528252"/>
            <a:ext cx="6445300" cy="24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635850a11_0_5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0" name="Google Shape;210;g3b635850a11_0_59"/>
          <p:cNvGrpSpPr/>
          <p:nvPr/>
        </p:nvGrpSpPr>
        <p:grpSpPr>
          <a:xfrm>
            <a:off x="-36786" y="-144662"/>
            <a:ext cx="18288118" cy="10431728"/>
            <a:chOff x="0" y="-38100"/>
            <a:chExt cx="4816592" cy="2747433"/>
          </a:xfrm>
        </p:grpSpPr>
        <p:sp>
          <p:nvSpPr>
            <p:cNvPr id="211" name="Google Shape;211;g3b635850a11_0_59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20070">
                    <a:alpha val="66666"/>
                  </a:srgbClr>
                </a:gs>
                <a:gs pos="100000">
                  <a:srgbClr val="000640">
                    <a:alpha val="6666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212" name="Google Shape;212;g3b635850a11_0_59"/>
            <p:cNvSpPr txBox="1"/>
            <p:nvPr/>
          </p:nvSpPr>
          <p:spPr>
            <a:xfrm>
              <a:off x="0" y="-38100"/>
              <a:ext cx="48165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g3b635850a11_0_59"/>
          <p:cNvGrpSpPr/>
          <p:nvPr/>
        </p:nvGrpSpPr>
        <p:grpSpPr>
          <a:xfrm>
            <a:off x="15513352" y="450887"/>
            <a:ext cx="1919443" cy="783680"/>
            <a:chOff x="0" y="-57150"/>
            <a:chExt cx="505529" cy="206400"/>
          </a:xfrm>
        </p:grpSpPr>
        <p:sp>
          <p:nvSpPr>
            <p:cNvPr id="214" name="Google Shape;214;g3b635850a11_0_59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g3b635850a11_0_59"/>
            <p:cNvSpPr txBox="1"/>
            <p:nvPr/>
          </p:nvSpPr>
          <p:spPr>
            <a:xfrm>
              <a:off x="0" y="-57150"/>
              <a:ext cx="5055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g3b635850a11_0_59"/>
          <p:cNvSpPr txBox="1"/>
          <p:nvPr/>
        </p:nvSpPr>
        <p:spPr>
          <a:xfrm>
            <a:off x="2798500" y="287600"/>
            <a:ext cx="117804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Evaluare performanță model Gradient Boosting</a:t>
            </a:r>
            <a:endParaRPr/>
          </a:p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3b635850a11_0_59"/>
          <p:cNvSpPr txBox="1"/>
          <p:nvPr/>
        </p:nvSpPr>
        <p:spPr>
          <a:xfrm>
            <a:off x="15762422" y="735562"/>
            <a:ext cx="14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0</a:t>
            </a:r>
            <a:r>
              <a:rPr b="1" lang="fr-FR" sz="1999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/>
          </a:p>
        </p:txBody>
      </p:sp>
      <p:cxnSp>
        <p:nvCxnSpPr>
          <p:cNvPr id="218" name="Google Shape;218;g3b635850a11_0_59"/>
          <p:cNvCxnSpPr/>
          <p:nvPr/>
        </p:nvCxnSpPr>
        <p:spPr>
          <a:xfrm>
            <a:off x="1028683" y="9272587"/>
            <a:ext cx="16230600" cy="1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9" name="Google Shape;219;g3b635850a11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775" y="1658988"/>
            <a:ext cx="8259969" cy="712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b635850a11_0_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9775" y="1679275"/>
            <a:ext cx="9811550" cy="71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635850a11_0_7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6" name="Google Shape;226;g3b635850a11_0_76"/>
          <p:cNvGrpSpPr/>
          <p:nvPr/>
        </p:nvGrpSpPr>
        <p:grpSpPr>
          <a:xfrm>
            <a:off x="-36786" y="-144662"/>
            <a:ext cx="18288118" cy="10431728"/>
            <a:chOff x="0" y="-38100"/>
            <a:chExt cx="4816592" cy="2747433"/>
          </a:xfrm>
        </p:grpSpPr>
        <p:sp>
          <p:nvSpPr>
            <p:cNvPr id="227" name="Google Shape;227;g3b635850a11_0_76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20070">
                    <a:alpha val="66666"/>
                  </a:srgbClr>
                </a:gs>
                <a:gs pos="100000">
                  <a:srgbClr val="000640">
                    <a:alpha val="6666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228" name="Google Shape;228;g3b635850a11_0_76"/>
            <p:cNvSpPr txBox="1"/>
            <p:nvPr/>
          </p:nvSpPr>
          <p:spPr>
            <a:xfrm>
              <a:off x="0" y="-38100"/>
              <a:ext cx="48165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g3b635850a11_0_76"/>
          <p:cNvGrpSpPr/>
          <p:nvPr/>
        </p:nvGrpSpPr>
        <p:grpSpPr>
          <a:xfrm>
            <a:off x="15513352" y="450887"/>
            <a:ext cx="1919443" cy="783680"/>
            <a:chOff x="0" y="-57150"/>
            <a:chExt cx="505529" cy="206400"/>
          </a:xfrm>
        </p:grpSpPr>
        <p:sp>
          <p:nvSpPr>
            <p:cNvPr id="230" name="Google Shape;230;g3b635850a11_0_76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g3b635850a11_0_76"/>
            <p:cNvSpPr txBox="1"/>
            <p:nvPr/>
          </p:nvSpPr>
          <p:spPr>
            <a:xfrm>
              <a:off x="0" y="-57150"/>
              <a:ext cx="5055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g3b635850a11_0_76"/>
          <p:cNvSpPr txBox="1"/>
          <p:nvPr/>
        </p:nvSpPr>
        <p:spPr>
          <a:xfrm>
            <a:off x="2798500" y="287600"/>
            <a:ext cx="117804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Evaluare performanță model Linear Regression</a:t>
            </a:r>
            <a:endParaRPr/>
          </a:p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g3b635850a11_0_76"/>
          <p:cNvSpPr txBox="1"/>
          <p:nvPr/>
        </p:nvSpPr>
        <p:spPr>
          <a:xfrm>
            <a:off x="15762422" y="735562"/>
            <a:ext cx="14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</a:t>
            </a:r>
            <a:r>
              <a:rPr b="1" lang="fr-FR" sz="1999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cxnSp>
        <p:nvCxnSpPr>
          <p:cNvPr id="234" name="Google Shape;234;g3b635850a11_0_76"/>
          <p:cNvCxnSpPr/>
          <p:nvPr/>
        </p:nvCxnSpPr>
        <p:spPr>
          <a:xfrm>
            <a:off x="1028683" y="9272587"/>
            <a:ext cx="16230600" cy="1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5" name="Google Shape;235;g3b635850a11_0_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650" y="2196500"/>
            <a:ext cx="8063850" cy="7489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b635850a11_0_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6650" y="3429000"/>
            <a:ext cx="8627075" cy="62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b635850a11_0_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56523" y="1275252"/>
            <a:ext cx="5184988" cy="192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635850a11_0_9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3" name="Google Shape;243;g3b635850a11_0_95"/>
          <p:cNvGrpSpPr/>
          <p:nvPr/>
        </p:nvGrpSpPr>
        <p:grpSpPr>
          <a:xfrm>
            <a:off x="-61" y="-72374"/>
            <a:ext cx="18288118" cy="10431728"/>
            <a:chOff x="0" y="-38100"/>
            <a:chExt cx="4816592" cy="2747433"/>
          </a:xfrm>
        </p:grpSpPr>
        <p:sp>
          <p:nvSpPr>
            <p:cNvPr id="244" name="Google Shape;244;g3b635850a11_0_95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20070">
                    <a:alpha val="66666"/>
                  </a:srgbClr>
                </a:gs>
                <a:gs pos="100000">
                  <a:srgbClr val="000640">
                    <a:alpha val="6666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245" name="Google Shape;245;g3b635850a11_0_95"/>
            <p:cNvSpPr txBox="1"/>
            <p:nvPr/>
          </p:nvSpPr>
          <p:spPr>
            <a:xfrm>
              <a:off x="0" y="-38100"/>
              <a:ext cx="48165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g3b635850a11_0_95"/>
          <p:cNvGrpSpPr/>
          <p:nvPr/>
        </p:nvGrpSpPr>
        <p:grpSpPr>
          <a:xfrm>
            <a:off x="15513352" y="450887"/>
            <a:ext cx="1919443" cy="783680"/>
            <a:chOff x="0" y="-57150"/>
            <a:chExt cx="505529" cy="206400"/>
          </a:xfrm>
        </p:grpSpPr>
        <p:sp>
          <p:nvSpPr>
            <p:cNvPr id="247" name="Google Shape;247;g3b635850a11_0_95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g3b635850a11_0_95"/>
            <p:cNvSpPr txBox="1"/>
            <p:nvPr/>
          </p:nvSpPr>
          <p:spPr>
            <a:xfrm>
              <a:off x="0" y="-57150"/>
              <a:ext cx="5055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g3b635850a11_0_95"/>
          <p:cNvSpPr txBox="1"/>
          <p:nvPr/>
        </p:nvSpPr>
        <p:spPr>
          <a:xfrm>
            <a:off x="2798500" y="287600"/>
            <a:ext cx="117804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Evaluare performanță model HistGradient Boosting</a:t>
            </a:r>
            <a:endParaRPr/>
          </a:p>
          <a:p>
            <a:pPr indent="0" lvl="0" marL="0" marR="0" rtl="0" algn="ctr">
              <a:lnSpc>
                <a:spcPct val="6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g3b635850a11_0_95"/>
          <p:cNvSpPr txBox="1"/>
          <p:nvPr/>
        </p:nvSpPr>
        <p:spPr>
          <a:xfrm>
            <a:off x="15762422" y="735562"/>
            <a:ext cx="14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999" u="none" cap="none" strike="noStrike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</a:t>
            </a:r>
            <a:r>
              <a:rPr b="1" lang="fr-FR" sz="1999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/>
          </a:p>
        </p:txBody>
      </p:sp>
      <p:cxnSp>
        <p:nvCxnSpPr>
          <p:cNvPr id="251" name="Google Shape;251;g3b635850a11_0_95"/>
          <p:cNvCxnSpPr/>
          <p:nvPr/>
        </p:nvCxnSpPr>
        <p:spPr>
          <a:xfrm>
            <a:off x="1028683" y="9272587"/>
            <a:ext cx="16230600" cy="1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2" name="Google Shape;252;g3b635850a11_0_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75" y="2477725"/>
            <a:ext cx="8627075" cy="720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b635850a11_0_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0588" y="1430144"/>
            <a:ext cx="4719195" cy="180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b635850a11_0_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6175" y="3429000"/>
            <a:ext cx="8826174" cy="62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640"/>
            </a:gs>
            <a:gs pos="100000">
              <a:srgbClr val="020070"/>
            </a:gs>
          </a:gsLst>
          <a:lin ang="0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7"/>
          <p:cNvGrpSpPr/>
          <p:nvPr/>
        </p:nvGrpSpPr>
        <p:grpSpPr>
          <a:xfrm>
            <a:off x="15513352" y="450888"/>
            <a:ext cx="1919429" cy="783524"/>
            <a:chOff x="0" y="-57150"/>
            <a:chExt cx="505529" cy="206360"/>
          </a:xfrm>
        </p:grpSpPr>
        <p:sp>
          <p:nvSpPr>
            <p:cNvPr id="260" name="Google Shape;260;p7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7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7"/>
          <p:cNvSpPr txBox="1"/>
          <p:nvPr/>
        </p:nvSpPr>
        <p:spPr>
          <a:xfrm>
            <a:off x="15762422" y="735562"/>
            <a:ext cx="14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999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12</a:t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1028683" y="9272587"/>
            <a:ext cx="16230600" cy="1905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7"/>
          <p:cNvSpPr/>
          <p:nvPr/>
        </p:nvSpPr>
        <p:spPr>
          <a:xfrm rot="-3185288">
            <a:off x="15595742" y="262509"/>
            <a:ext cx="4630504" cy="4630504"/>
          </a:xfrm>
          <a:custGeom>
            <a:rect b="b" l="l" r="r" t="t"/>
            <a:pathLst>
              <a:path extrusionOk="0" h="4630504" w="4630504">
                <a:moveTo>
                  <a:pt x="0" y="0"/>
                </a:moveTo>
                <a:lnTo>
                  <a:pt x="4630504" y="0"/>
                </a:lnTo>
                <a:lnTo>
                  <a:pt x="4630504" y="4630503"/>
                </a:lnTo>
                <a:lnTo>
                  <a:pt x="0" y="4630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7"/>
          <p:cNvSpPr txBox="1"/>
          <p:nvPr/>
        </p:nvSpPr>
        <p:spPr>
          <a:xfrm>
            <a:off x="6050524" y="767775"/>
            <a:ext cx="5886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9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Comparație modele</a:t>
            </a:r>
            <a:endParaRPr sz="4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6" name="Google Shape;2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2625" y="1516075"/>
            <a:ext cx="12150725" cy="3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/>
          <p:nvPr/>
        </p:nvSpPr>
        <p:spPr>
          <a:xfrm>
            <a:off x="1447800" y="5054427"/>
            <a:ext cx="16971377" cy="3903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obține cele mai bune rezultate, având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cea mai mică eroare (MAE, RMSE)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și cel mai mare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R² pe setul de test (~0.79)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Diferența dintre R² train și test la Random Forest indică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ușor overfitting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dar cu o bună capacitate de generalizare.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HistGradient Boosting și Gradient Boosting au performanțe apropiate, cu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R² test ≈ 0.75–0.76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Aceste modele sunt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robuste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dar nu depășesc acuratețea Random Forest.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Regresia liniară are cele mai slabe rezultate, cu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erori mari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și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R² redus (~0.62)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Rezultatele confirmă existența unor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relații neliniare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între caracteristici și preț.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 urmare, </a:t>
            </a: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este modelul optim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pentru predicția prețurilor telefoanelor.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0070"/>
            </a:gs>
            <a:gs pos="100000">
              <a:srgbClr val="000640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8"/>
          <p:cNvCxnSpPr/>
          <p:nvPr/>
        </p:nvCxnSpPr>
        <p:spPr>
          <a:xfrm>
            <a:off x="1028683" y="9272587"/>
            <a:ext cx="16230600" cy="1905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3" name="Google Shape;273;p8"/>
          <p:cNvGrpSpPr/>
          <p:nvPr/>
        </p:nvGrpSpPr>
        <p:grpSpPr>
          <a:xfrm>
            <a:off x="15513352" y="450888"/>
            <a:ext cx="1919429" cy="783524"/>
            <a:chOff x="0" y="-57150"/>
            <a:chExt cx="505529" cy="206360"/>
          </a:xfrm>
        </p:grpSpPr>
        <p:sp>
          <p:nvSpPr>
            <p:cNvPr id="274" name="Google Shape;274;p8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8"/>
          <p:cNvSpPr txBox="1"/>
          <p:nvPr/>
        </p:nvSpPr>
        <p:spPr>
          <a:xfrm>
            <a:off x="6400875" y="450875"/>
            <a:ext cx="56280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Concluzie</a:t>
            </a:r>
            <a:endParaRPr sz="5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15762422" y="735562"/>
            <a:ext cx="14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999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13</a:t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-3306817" y="1295381"/>
            <a:ext cx="4335517" cy="4114800"/>
          </a:xfrm>
          <a:custGeom>
            <a:rect b="b" l="l" r="r" t="t"/>
            <a:pathLst>
              <a:path extrusionOk="0"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8"/>
          <p:cNvSpPr/>
          <p:nvPr/>
        </p:nvSpPr>
        <p:spPr>
          <a:xfrm>
            <a:off x="17432782" y="4544162"/>
            <a:ext cx="4335517" cy="4114800"/>
          </a:xfrm>
          <a:custGeom>
            <a:rect b="b" l="l" r="r" t="t"/>
            <a:pathLst>
              <a:path extrusionOk="0"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8"/>
          <p:cNvSpPr txBox="1"/>
          <p:nvPr/>
        </p:nvSpPr>
        <p:spPr>
          <a:xfrm>
            <a:off x="1600200" y="981225"/>
            <a:ext cx="14706600" cy="8335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 realizată arată că </a:t>
            </a: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prețul telefoanelor mobile poate fi prezis cu o acuratețe ridicată</a:t>
            </a: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atunci când sunt utilizate modele de machine learning neliniare.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Modelul </a:t>
            </a: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ales ca model final, reușește să explice aproximativ </a:t>
            </a: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79% din variația prețurilor</a:t>
            </a: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 date nevăzute (R² test ≈ 0.79), cu o eroare medie de aproximativ </a:t>
            </a: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450 unități monetare</a:t>
            </a: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Acest lucru indică faptul că predicțiile sunt </a:t>
            </a: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fiabile și utile în practică</a:t>
            </a: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Rezultatele sugerează că: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caracteristicile tehnice (performanță, specificații, brand etc.) influențează semnificativ prețul;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relația dintre caracteristici și preț este </a:t>
            </a: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complexă</a:t>
            </a: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motiv pentru care modelele simple nu sunt suficiente;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modelul poate fi folosit pentru: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estimarea prețului corect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 unui telefon nou,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detectarea telefoanelor subevaluate și supraevaluate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sprijinirea deciziilor comerciale</a:t>
            </a: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(pricing, recomandări).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👉 </a:t>
            </a: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Concluzie</a:t>
            </a: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Predicția prețurilor telefoanelor este realizabilă și relevantă, iar utilizarea Random Forest oferă un instrument eficient pentru evaluarea valorii reale a unui telefon pe piață.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grpSp>
        <p:nvGrpSpPr>
          <p:cNvPr id="286" name="Google Shape;286;p9"/>
          <p:cNvGrpSpPr/>
          <p:nvPr/>
        </p:nvGrpSpPr>
        <p:grpSpPr>
          <a:xfrm>
            <a:off x="-10510" y="-144661"/>
            <a:ext cx="18288000" cy="10431661"/>
            <a:chOff x="0" y="-38100"/>
            <a:chExt cx="4816593" cy="2747433"/>
          </a:xfrm>
        </p:grpSpPr>
        <p:sp>
          <p:nvSpPr>
            <p:cNvPr id="287" name="Google Shape;287;p9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20070">
                    <a:alpha val="23921"/>
                  </a:srgbClr>
                </a:gs>
                <a:gs pos="100000">
                  <a:srgbClr val="000640">
                    <a:alpha val="23921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288" name="Google Shape;288;p9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9"/>
          <p:cNvGrpSpPr/>
          <p:nvPr/>
        </p:nvGrpSpPr>
        <p:grpSpPr>
          <a:xfrm>
            <a:off x="15513352" y="450888"/>
            <a:ext cx="1919429" cy="783524"/>
            <a:chOff x="0" y="-57150"/>
            <a:chExt cx="505529" cy="206360"/>
          </a:xfrm>
        </p:grpSpPr>
        <p:sp>
          <p:nvSpPr>
            <p:cNvPr id="290" name="Google Shape;290;p9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9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92" name="Google Shape;292;p9"/>
          <p:cNvCxnSpPr/>
          <p:nvPr/>
        </p:nvCxnSpPr>
        <p:spPr>
          <a:xfrm>
            <a:off x="1028683" y="8732575"/>
            <a:ext cx="16230600" cy="1905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9"/>
          <p:cNvSpPr txBox="1"/>
          <p:nvPr/>
        </p:nvSpPr>
        <p:spPr>
          <a:xfrm>
            <a:off x="15762422" y="735562"/>
            <a:ext cx="14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999">
                <a:solidFill>
                  <a:srgbClr val="020F8D"/>
                </a:solidFill>
                <a:latin typeface="Poppins"/>
                <a:ea typeface="Poppins"/>
                <a:cs typeface="Poppins"/>
                <a:sym typeface="Poppins"/>
              </a:rPr>
              <a:t>Page 14</a:t>
            </a:r>
            <a:endParaRPr b="1" sz="1999">
              <a:solidFill>
                <a:srgbClr val="020F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2104388" y="4368185"/>
            <a:ext cx="140793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0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200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MULȚUMIM PENTRU ATENȚIE!</a:t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8528202" y="9061735"/>
            <a:ext cx="1869479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 Mama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ryzen 5th</dc:creator>
</cp:coreProperties>
</file>